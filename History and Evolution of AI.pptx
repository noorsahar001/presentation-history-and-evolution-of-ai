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3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3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7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7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48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4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3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0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87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816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59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7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23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63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51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8B414-9044-4F63-83B9-E6D598550DF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F71D7-DF65-438D-8F60-A5FC383D3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57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History and Evolution of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800" b="1" u="sng" dirty="0" smtClean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A presentation </a:t>
            </a:r>
            <a:r>
              <a:rPr lang="en-US" sz="2800" b="1" u="sng" dirty="0" smtClean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by </a:t>
            </a:r>
            <a:r>
              <a:rPr lang="en-US" sz="2800" b="1" u="sng" dirty="0" smtClean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Noor </a:t>
            </a:r>
            <a:r>
              <a:rPr lang="en-US" sz="2800" b="1" u="sng" dirty="0" smtClean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Sahar</a:t>
            </a:r>
          </a:p>
          <a:p>
            <a:pPr algn="r"/>
            <a:r>
              <a:rPr lang="en-US" sz="2800" b="1" u="sng" dirty="0" smtClean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Assignment # 01</a:t>
            </a:r>
            <a:endParaRPr lang="en-US" sz="2800" b="1" u="sng" dirty="0">
              <a:solidFill>
                <a:schemeClr val="tx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326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0"/>
              </a:schemeClr>
            </a:gs>
            <a:gs pos="70000">
              <a:schemeClr val="accent1">
                <a:lumMod val="45000"/>
                <a:lumOff val="55000"/>
              </a:schemeClr>
            </a:gs>
            <a:gs pos="6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Early Foundation of </a:t>
            </a:r>
            <a:r>
              <a:rPr lang="en-US" b="1" u="sng" dirty="0" err="1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ai</a:t>
            </a:r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:</a:t>
            </a:r>
            <a:endParaRPr lang="en-US" b="1" u="sng" dirty="0">
              <a:solidFill>
                <a:schemeClr val="tx2">
                  <a:lumMod val="5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711234"/>
            <a:ext cx="9905998" cy="40799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Britannic Bold" panose="020B0903060703020204" pitchFamily="34" charset="0"/>
              </a:rPr>
              <a:t>1950-Alan Turing: </a:t>
            </a: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He created a test to check whether a machine can think like a human. This is called Turing Test.</a:t>
            </a:r>
          </a:p>
          <a:p>
            <a:r>
              <a:rPr lang="en-US" dirty="0" smtClean="0">
                <a:solidFill>
                  <a:schemeClr val="bg1"/>
                </a:solidFill>
                <a:latin typeface="Britannic Bold" panose="020B0903060703020204" pitchFamily="34" charset="0"/>
              </a:rPr>
              <a:t>1956-Dartmouth Conference: </a:t>
            </a: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The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event where Artificial Intelligence was officially proposed as a new field of </a:t>
            </a: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research.</a:t>
            </a:r>
          </a:p>
          <a:p>
            <a:r>
              <a:rPr lang="en-US" dirty="0" smtClean="0">
                <a:solidFill>
                  <a:schemeClr val="bg1"/>
                </a:solidFill>
                <a:latin typeface="Britannic Bold" panose="020B0903060703020204" pitchFamily="34" charset="0"/>
              </a:rPr>
              <a:t>Early AI</a:t>
            </a: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: In the beginning, AI worked only on rules and logic.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“AI was founded in the 1950s, when people first began to wonder whether machines could think like humans.”</a:t>
            </a:r>
          </a:p>
          <a:p>
            <a:endParaRPr lang="en-US" dirty="0" smtClean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87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0"/>
              </a:schemeClr>
            </a:gs>
            <a:gs pos="8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Rule-BASED &amp; </a:t>
            </a:r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EXPERT SYSTEMS</a:t>
            </a:r>
            <a:b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(1960 – 1980)</a:t>
            </a:r>
            <a:r>
              <a:rPr lang="en-US" b="1" u="sng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/>
            </a:r>
            <a:br>
              <a:rPr lang="en-US" b="1" u="sng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3944982"/>
            <a:ext cx="10118772" cy="2913017"/>
          </a:xfrm>
        </p:spPr>
        <p:txBody>
          <a:bodyPr>
            <a:normAutofit/>
          </a:bodyPr>
          <a:lstStyle/>
          <a:p>
            <a:r>
              <a:rPr lang="en-US" sz="2400" cap="none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     “AI In This Era Was Not Smart. It Only Followed Rules, So It Could Not Solve General      Problems.”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During This Period, AI Worked Only By Following Predefined Rules.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If You Taught The Machine 100 Rules, It Could Perform Only Those Exact 100 Rules.</a:t>
            </a:r>
          </a:p>
          <a:p>
            <a:pPr algn="ctr"/>
            <a:endParaRPr lang="en-US" sz="2400" dirty="0" smtClean="0">
              <a:solidFill>
                <a:schemeClr val="bg1">
                  <a:lumMod val="95000"/>
                  <a:lumOff val="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68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1">
                <a:lumMod val="5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Machine learning (</a:t>
            </a:r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1990 – 2010</a:t>
            </a:r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)</a:t>
            </a:r>
            <a:endParaRPr lang="en-US" b="1" u="sng" dirty="0">
              <a:solidFill>
                <a:schemeClr val="tx2">
                  <a:lumMod val="5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Shift from rule based systems to learning from data. </a:t>
            </a:r>
          </a:p>
          <a:p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Natural networks made a comeback.</a:t>
            </a:r>
          </a:p>
          <a:p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 ML algorithms likes SVMs, Decision Trees, and Deep learning became popular.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“</a:t>
            </a: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AI 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started learning from data, and this is where the journey of modern AI truly begins</a:t>
            </a: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.”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chemeClr val="bg1">
                  <a:lumMod val="95000"/>
                  <a:lumOff val="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32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519776"/>
            </a:gs>
            <a:gs pos="35000">
              <a:srgbClr val="2D7C57"/>
            </a:gs>
            <a:gs pos="10000">
              <a:schemeClr val="accent1">
                <a:lumMod val="5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718457"/>
            <a:ext cx="9906000" cy="508068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DEEP LEARNING BREAKTHROUGHS:</a:t>
            </a:r>
            <a:b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r>
              <a:rPr lang="en-US" b="1" u="sng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/>
            </a:r>
            <a:br>
              <a:rPr lang="en-US" b="1" u="sng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4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“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This era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m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ade AI progress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e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xtremely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f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ast. </a:t>
            </a:r>
            <a:b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/>
            </a:r>
            <a:b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In 2012 was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a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 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m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ajor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t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urning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p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oint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f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or AI. </a:t>
            </a:r>
            <a:b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/>
            </a:r>
            <a:b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Deep Learning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c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hanged everything, </a:t>
            </a:r>
            <a:r>
              <a:rPr lang="en-US" sz="2400" cap="none" dirty="0" err="1" smtClean="0">
                <a:solidFill>
                  <a:schemeClr val="bg1"/>
                </a:solidFill>
                <a:latin typeface="Arial Narrow" panose="020B0606020202030204" pitchFamily="34" charset="0"/>
              </a:rPr>
              <a:t>Alexnet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 brought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a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 revolution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i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n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i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mage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r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ecognition. </a:t>
            </a:r>
            <a:b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/>
            </a:r>
            <a:b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GPUs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a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nd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b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ig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d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ata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m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ade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m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odels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m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uch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m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ore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p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owerful.</a:t>
            </a:r>
            <a:b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/>
            </a:r>
            <a:b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Computer Vision, Speech, and Language technologies all </a:t>
            </a:r>
            <a:r>
              <a:rPr lang="en-US" sz="2400" cap="none" dirty="0">
                <a:solidFill>
                  <a:schemeClr val="bg1"/>
                </a:solidFill>
                <a:latin typeface="Arial Narrow" panose="020B0606020202030204" pitchFamily="34" charset="0"/>
              </a:rPr>
              <a:t>i</a:t>
            </a:r>
            <a:r>
              <a:rPr lang="en-US" sz="2400" cap="none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mproved.”</a:t>
            </a:r>
            <a:endParaRPr lang="en-US" sz="2400" b="1" u="sng" cap="none" dirty="0">
              <a:solidFill>
                <a:schemeClr val="tx2">
                  <a:lumMod val="50000"/>
                </a:schemeClr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657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8000">
              <a:srgbClr val="519776"/>
            </a:gs>
            <a:gs pos="39000">
              <a:srgbClr val="2D7C57"/>
            </a:gs>
            <a:gs pos="10000">
              <a:schemeClr val="accent1">
                <a:lumMod val="5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583" y="1672045"/>
            <a:ext cx="10002382" cy="1417819"/>
          </a:xfrm>
        </p:spPr>
        <p:txBody>
          <a:bodyPr/>
          <a:lstStyle/>
          <a:p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Large language models (</a:t>
            </a:r>
            <a:r>
              <a:rPr lang="en-US" b="1" u="sng" cap="none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LLMs</a:t>
            </a:r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):</a:t>
            </a:r>
            <a:endParaRPr lang="en-US" b="1" u="sng" dirty="0">
              <a:solidFill>
                <a:schemeClr val="tx2">
                  <a:lumMod val="5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1047" y="3089864"/>
            <a:ext cx="9905998" cy="232251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“LLMs like GPT learn from massive amounts of data from around the world and generate intelligent, human-like responses.”</a:t>
            </a:r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92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5000">
              <a:srgbClr val="519776"/>
            </a:gs>
            <a:gs pos="33000">
              <a:srgbClr val="2D7C57"/>
            </a:gs>
            <a:gs pos="8000">
              <a:schemeClr val="accent1">
                <a:lumMod val="5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744584"/>
            <a:ext cx="9905998" cy="1352504"/>
          </a:xfrm>
        </p:spPr>
        <p:txBody>
          <a:bodyPr/>
          <a:lstStyle/>
          <a:p>
            <a:r>
              <a:rPr lang="en-US" b="1" u="sng" cap="none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LLMs WORKs:</a:t>
            </a:r>
            <a:endParaRPr lang="en-US" b="1" u="sng" cap="none" dirty="0">
              <a:solidFill>
                <a:schemeClr val="tx2">
                  <a:lumMod val="5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AI breaks text to small pieces called tokens to understand it.</a:t>
            </a:r>
          </a:p>
          <a:p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Self-supervised learning AI learns by predicting the next word.</a:t>
            </a:r>
          </a:p>
          <a:p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Attention mechanism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helps AI know which words to focus on</a:t>
            </a: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“LLMs don’t actually understand text, but they learn patterns so well that they can generate human like responses.”</a:t>
            </a:r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02499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rgbClr val="519776"/>
            </a:gs>
            <a:gs pos="33000">
              <a:srgbClr val="2D7C57"/>
            </a:gs>
            <a:gs pos="8000">
              <a:schemeClr val="accent1">
                <a:lumMod val="5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Rise of agentic AI:</a:t>
            </a:r>
            <a:endParaRPr lang="en-US" b="1" u="sng" dirty="0">
              <a:solidFill>
                <a:schemeClr val="tx2">
                  <a:lumMod val="5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0052" y="1809705"/>
            <a:ext cx="9905999" cy="369411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“Agentic AI represents the future AI can think for itself and perform tasks autonomously.”</a:t>
            </a:r>
          </a:p>
          <a:p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AI no longer just provided answers it can perform tasks.</a:t>
            </a:r>
          </a:p>
          <a:p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AI agents can use tools and APIs</a:t>
            </a:r>
          </a:p>
          <a:p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They can make decisions and execute tasks</a:t>
            </a:r>
          </a:p>
          <a:p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Multi-agent collaboration is possible.</a:t>
            </a:r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81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519776"/>
            </a:gs>
            <a:gs pos="33000">
              <a:srgbClr val="2D7C57"/>
            </a:gs>
            <a:gs pos="8000">
              <a:schemeClr val="accent1">
                <a:lumMod val="5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0" y="1950929"/>
            <a:ext cx="6527662" cy="1478570"/>
          </a:xfrm>
        </p:spPr>
        <p:txBody>
          <a:bodyPr/>
          <a:lstStyle/>
          <a:p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</a:rPr>
              <a:t>Conclusion:</a:t>
            </a:r>
            <a:endParaRPr lang="en-US" b="1" u="sng" dirty="0">
              <a:solidFill>
                <a:schemeClr val="tx2">
                  <a:lumMod val="5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3291839"/>
            <a:ext cx="9905999" cy="249936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“The journey of AI has progressed from simple rules to highly intelligent agents, and in the future, AI will become even stronger and more useful.”</a:t>
            </a:r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940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199</TotalTime>
  <Words>380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Agency FB</vt:lpstr>
      <vt:lpstr>Arial</vt:lpstr>
      <vt:lpstr>Arial Narrow</vt:lpstr>
      <vt:lpstr>Britannic Bold</vt:lpstr>
      <vt:lpstr>Trebuchet MS</vt:lpstr>
      <vt:lpstr>Tw Cen MT</vt:lpstr>
      <vt:lpstr>Circuit</vt:lpstr>
      <vt:lpstr>History and Evolution of Artificial Intelligence</vt:lpstr>
      <vt:lpstr>Early Foundation of ai:</vt:lpstr>
      <vt:lpstr>Rule-BASED &amp; EXPERT SYSTEMS (1960 – 1980) </vt:lpstr>
      <vt:lpstr>Machine learning (1990 – 2010)</vt:lpstr>
      <vt:lpstr>DEEP LEARNING BREAKTHROUGHS:  “This era made AI progress extremely fast.   In 2012 was a  major turning point for AI.   Deep Learning changed everything, Alexnet brought a revolution in image recognition.   GPUs and big data made models much more powerful.  Computer Vision, Speech, and Language technologies all improved.”</vt:lpstr>
      <vt:lpstr>Large language models (LLMs):</vt:lpstr>
      <vt:lpstr>LLMs WORKs:</vt:lpstr>
      <vt:lpstr>Rise of agentic AI: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and Evolution of Artificial Intelligence</dc:title>
  <dc:creator>Hp 250 Notebook G5</dc:creator>
  <cp:lastModifiedBy>Hp 250 Notebook G5</cp:lastModifiedBy>
  <cp:revision>23</cp:revision>
  <dcterms:created xsi:type="dcterms:W3CDTF">2025-11-17T20:39:00Z</dcterms:created>
  <dcterms:modified xsi:type="dcterms:W3CDTF">2025-11-27T08:53:53Z</dcterms:modified>
</cp:coreProperties>
</file>